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965960"/>
            <a:ext cx="109728" cy="1463040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白底 Bento + 金融蓝锚点：这是一套给管理层扫读、给投研下钻的公募经营驾驶舱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880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AE0FF"/>
                </a:solidFill>
                <a:latin typeface="Microsoft YaHei"/>
                <a:ea typeface="Microsoft YaHei"/>
              </a:rPr>
              <a:t>风格拆解  ·  交互蓝图  ·  可运行 HTML 原型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852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C4F0"/>
                </a:solidFill>
                <a:latin typeface="Microsoft YaHei"/>
                <a:ea typeface="Microsoft YaHei"/>
              </a:rPr>
              <a:t>内部工作台语言  |  红涨绿跌  |  卡片内过滤  |  数据截至 T+1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它不是理财 App，也不是彭博黑底终端——而是机构内部的「一屏看全公司」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99031"/>
            <a:ext cx="73152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16151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2D8"/>
                </a:solidFill>
                <a:latin typeface="Microsoft YaHei"/>
                <a:ea typeface="Microsoft YaHei"/>
              </a:rPr>
              <a:t>像谁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Ant Design Pro / 券商内部投研台：浅冷色画布、白卡片、蓝竖条标题、等宽 KPI。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33472"/>
            <a:ext cx="73152" cy="384048"/>
          </a:xfrm>
          <a:prstGeom prst="roundRect">
            <a:avLst>
              <a:gd name="adj" fmla="val 15000"/>
            </a:avLst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8C16"/>
                </a:solidFill>
                <a:latin typeface="Microsoft YaHei"/>
                <a:ea typeface="Microsoft YaHei"/>
              </a:rPr>
              <a:t>不像谁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消费级渐变插画、暗色指挥大屏、3D 饼图、游戏化血条。风控半环只表达时长结构。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867912"/>
            <a:ext cx="73152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2D8"/>
                </a:solidFill>
                <a:latin typeface="Microsoft YaHei"/>
                <a:ea typeface="Microsoft YaHei"/>
              </a:rPr>
              <a:t>核心承诺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30 秒看规模/申赎/营收是否异常；再一层下到产品表与研究员组合。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102352"/>
            <a:ext cx="73152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194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2D8"/>
                </a:solidFill>
                <a:latin typeface="Microsoft YaHei"/>
                <a:ea typeface="Microsoft YaHei"/>
              </a:rPr>
              <a:t>密度策略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高密度但可扫读：主数字 26–28px，标签 11–12px 灰色，图表去描边、图例置顶。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四层信息架构：经营总览 → 公司全景 → 投资切片 → 研究绩效，禁止混层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743200" cy="10972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L0 经营管理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860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只数 / 规模 / 生命周期 / 当日净申购 / 管理费与盈亏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754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此刻该不该紧张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188720"/>
            <a:ext cx="27432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188720"/>
            <a:ext cx="2743200" cy="10972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4630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L1 公司全景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860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同业雷达 · 规模结构 · 产品榜 · 管理费节奏 · 渠道散点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754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我们在行业里站哪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27432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188720"/>
            <a:ext cx="2743200" cy="10972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4630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L2 基金投资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2860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部门/经理下拉 + 产品明细表 + 静态风控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754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谁的组合、什么风险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7432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188720"/>
            <a:ext cx="2743200" cy="10972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4630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L3 权益研究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2860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考评榜 · 组合 vs 基准 · 行业收益条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754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观点有没有被市场验证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视觉系统可复用：画布冷灰、卡片纯白、语义色固定，规模堆叠禁止「彩虹重排」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329"/>
                </a:solidFill>
                <a:latin typeface="Microsoft YaHei"/>
                <a:ea typeface="Microsoft YaHei"/>
              </a:rPr>
              <a:t>画布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329"/>
                </a:solidFill>
                <a:latin typeface="Microsoft YaHei"/>
                <a:ea typeface="Microsoft YaHei"/>
              </a:rPr>
              <a:t>#EEF3F9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6816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品牌蓝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#1677FF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主数字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#1F2329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91456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涨/警示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#E5484D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2B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跌/对照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#2BA471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8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5824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生命周期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#8B6CFF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规模/营收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#FA8C16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70464" y="10972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5B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1234440"/>
            <a:ext cx="1207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固收堆叠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196596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#5B7CFA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834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9992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标题：3×14 蓝竖条 + 14px/650，不放花哨图标字体。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1188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7764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KPI：26–28px 等宽；副文案 11px 灰。数量用蓝玻璃图标，金额用橙。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8912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537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A 股口径红涨绿跌；风控最长天数用红，短违规用蓝。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663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3309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卡片：圆角 10、间距 10、边框 #E9F0F6、投影极轻。默认不做暗色。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图表有固定语义：气泡看生命周期，堆叠看结构，对数散点看渠道质量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气泡图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产品形态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X=阶段，Y 与半径=只数。发行期为 0 留空，不画假点。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胶囊柱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6916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净申购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031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零轴上下对称，红入绿出。当日 KPI 用偏赭红，避免与涨跌红撞车。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280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雷达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6916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同业结构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031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六品类；排名/市占放左侧大字，不塞进雷达中心。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490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堆叠面积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规模走势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无描边；固收/货币做主体，饱和度压住。快捷档改写区间。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5661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7490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柱+线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管理费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572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去年蓝柱、今年橙柱，累计用线。未发生月份 null，不补 0。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661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7490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62D8"/>
                </a:solidFill>
                <a:latin typeface="Microsoft YaHei"/>
                <a:ea typeface="Microsoft YaHei"/>
              </a:rPr>
              <a:t>对数散点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7FF"/>
                </a:solidFill>
                <a:latin typeface="Microsoft YaHei"/>
                <a:ea typeface="Microsoft YaHei"/>
              </a:rPr>
              <a:t>销售渠道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572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规模跨数量级必须 log。银行深蓝 / 券商蓝 / 三方绿。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交互下沉到卡片：页头只留截至日期，筛选项跟着图表走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A471"/>
                </a:solidFill>
                <a:latin typeface="Microsoft YaHei"/>
                <a:ea typeface="Microsoft YaHei"/>
              </a:rPr>
              <a:t>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页级：数据截至日期（T+1 时间戳）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卡片级：Segmented、日期对、部门/经理下拉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行级：榜单与产品表 hover/选中，驱动邻图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空态：缺数用「—」，同比无数据不画箭头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484D"/>
                </a:solidFill>
                <a:latin typeface="Microsoft YaHei"/>
                <a:ea typeface="Microsoft YaHei"/>
              </a:rPr>
              <a:t>不做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不要顶栏堆 8 个全局筛选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不要把投研组合和管理费画同一张图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不要在客户材料写真实产品名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</a:rPr>
              <a:t>移动端另做 KPI 简报，不要硬缩这张屏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落地路径：先冻结 Widget 协议与口径字典，再接 T+1 估值/TA/同业披露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2D8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7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React 或 Vue 3 + CSS Grid + ECharts 5。每个卡片 = title / filters / renderer / queryKey。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2D8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664207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经营层：估值规模 + TA 申赎 + 管理费计提。同业：协会/年报披露。投研：模拟盘 vs 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2D8"/>
                </a:solidFill>
                <a:latin typeface="Microsoft YaHei"/>
                <a:ea typeface="Microsoft YaHei"/>
              </a:rPr>
              <a:t>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644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L0–L1 管理层；L2 按投资部门；L3 研究团队。同一视觉，不同 query。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6974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862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2D8"/>
                </a:solidFill>
                <a:latin typeface="Microsoft YaHei"/>
                <a:ea typeface="Microsoft YaHei"/>
              </a:rPr>
              <a:t>分辨率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2644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先做 1920 工作台，1440 只压缩字号。移动端出简报，不做响应式大屏。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4622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2D8"/>
                </a:solidFill>
                <a:latin typeface="Microsoft YaHei"/>
                <a:ea typeface="Microsoft YaHei"/>
              </a:rPr>
              <a:t>口径纪律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646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归因必须与净值勾稽；说不清标【待核实】。客户材料不出现具体产品名。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976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4622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62D8"/>
                </a:solidFill>
                <a:latin typeface="Microsoft YaHei"/>
                <a:ea typeface="Microsoft YaHei"/>
              </a:rPr>
              <a:t>交付物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8646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5969"/>
                </a:solidFill>
                <a:latin typeface="Microsoft YaHei"/>
                <a:ea typeface="Microsoft YaHei"/>
              </a:rPr>
              <a:t>本仓库已含可点击 HTML 原型、设计 token、本页 PPT。下一步接真实接口。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91440" cy="384048"/>
          </a:xfrm>
          <a:prstGeom prst="roundRect">
            <a:avLst>
              <a:gd name="adj" fmla="val 15000"/>
            </a:avLst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2D8"/>
                </a:solidFill>
                <a:latin typeface="Microsoft YaHei"/>
                <a:ea typeface="Microsoft YaHei"/>
              </a:rPr>
              <a:t>建议立刻开工的三件事：口径表、Widget 清单、权限矩阵——视觉已经够抄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77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71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/>
                <a:ea typeface="Microsoft YaHei"/>
              </a:rPr>
              <a:t>口径字典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规模用期末还是日均、管理费含不含货基、同业是否含货币，先写成一页纸。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77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926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/>
                <a:ea typeface="Microsoft YaHei"/>
              </a:rPr>
              <a:t>Widget 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按本原型 14 张卡片立项，每张写数据源、刷新频率、负责人。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77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4805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Microsoft YaHei"/>
                <a:ea typeface="Microsoft YaHei"/>
              </a:rPr>
              <a:t>权限矩阵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937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5969"/>
                </a:solidFill>
                <a:latin typeface="Microsoft YaHei"/>
                <a:ea typeface="Microsoft YaHei"/>
              </a:rPr>
              <a:t>管理层/固收/权益/研究看到的字段不同，表头先裁再开发。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经营驾驶舱风格拆解  ·  演示口径，产品已匿名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6909C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