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6000" cy="6858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0" y="900000"/>
            <a:ext cx="5220000" cy="5040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" y="864000"/>
            <a:ext cx="720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>
                <a:solidFill>
                  <a:srgbClr val="E0B574"/>
                </a:solidFill>
                <a:latin typeface="微软雅黑"/>
              </a:rPr>
              <a:t>ASSET  ALLOCATION  ·  FOF  · 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1620000"/>
            <a:ext cx="7920000" cy="72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微软雅黑"/>
              </a:rPr>
              <a:t>资产配置视角下的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000" y="2412000"/>
            <a:ext cx="7920000" cy="827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600" b="1">
                <a:solidFill>
                  <a:srgbClr val="E0B574"/>
                </a:solidFill>
                <a:latin typeface="微软雅黑"/>
              </a:rPr>
              <a:t>公募FOF投资新思路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3491999"/>
            <a:ext cx="2880000" cy="288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000" y="3671999"/>
            <a:ext cx="10080000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B6C4D6"/>
                </a:solidFill>
                <a:latin typeface="微软雅黑"/>
              </a:rPr>
              <a:t>双主线：全球多元资产研究  ×  组合管理（风险预算 / 风险控制 / 收益拆解）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2000" y="1080000"/>
            <a:ext cx="468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1">
                <a:solidFill>
                  <a:srgbClr val="E0B574"/>
                </a:solidFill>
                <a:latin typeface="微软雅黑"/>
              </a:rPr>
              <a:t>演讲提纲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2000" y="1440000"/>
            <a:ext cx="4680000" cy="3960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宏观新常态下的配置困局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资产配置理论与公募FOF定位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全球多元资产研究与对比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组合管理：风险预算 / 控制 / 归因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公募FOF投资 6 条新思路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银行场景下的落地路径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案例与展望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6066000"/>
            <a:ext cx="10080000" cy="28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>
                <a:solidFill>
                  <a:srgbClr val="B6C4D6"/>
                </a:solidFill>
                <a:latin typeface="微软雅黑"/>
              </a:rPr>
              <a:t>面向 银行总部  |  分享时长 约 60 分钟  |  共 42 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6390000"/>
            <a:ext cx="1008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演讲人：　　　　　　　　　　　日期：2026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目录 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Seven Chapters · 42 Pages · ≈ 60 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655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1655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52000" y="1655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4000" y="1655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宏观新常态下的配置困局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267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0000" y="2267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52000" y="2267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4000" y="2267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资产配置理论的演进与公募FOF的位置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" y="2879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0000" y="2879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52000" y="2879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24000" y="2879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全球多元资产研究与对比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491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0000" y="3491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四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52000" y="3491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24000" y="3491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组合管理：风险预算 / 风险控制 / 收益拆解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80000" y="1655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0" y="1655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92000" y="1655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64000" y="1655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公募FOF投资新思路（6条）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80000" y="2267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0000" y="2267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92000" y="2267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64000" y="2267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公募FOF 在银行场景的落地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80000" y="2879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0000" y="2879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92000" y="2879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64000" y="2879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案例与展望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80000" y="3491999"/>
            <a:ext cx="576000" cy="576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80000" y="3491999"/>
            <a:ext cx="576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2200" b="1">
                <a:solidFill>
                  <a:srgbClr val="E0B574"/>
                </a:solidFill>
                <a:latin typeface="微软雅黑"/>
              </a:rPr>
              <a:t>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92000" y="3491999"/>
            <a:ext cx="4788000" cy="576000"/>
          </a:xfrm>
          <a:prstGeom prst="rect">
            <a:avLst/>
          </a:prstGeom>
          <a:solidFill>
            <a:srgbClr val="1B2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64000" y="3491999"/>
            <a:ext cx="4680000" cy="576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微软雅黑"/>
              </a:rPr>
              <a:t>结语 +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全球宏观新常态：旧范式的失效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低增长 · 再通胀 · 利率高位 · 地缘碎片化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潜在增速下移：全球GDP长期中枢从 3.5% 下调至 2.6%—2.8%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再通胀压力反复：去全球化、能源转型、薪资黏性共同抬升通胀中枢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地缘政治碎片化：供应链区域化重构，安全溢价取代效率溢价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主要经济体利率中枢明显抬升，并在高位震荡，2022 年股债负相关失效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单一资产 / 单一市场的“长牛”叙事被打破 → 多元化成为必选项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中国宏观与资产环境的三大切换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地产链转型 · 利率中枢下移 · 居民资产再平衡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地产链转型：房地产从居民资产负债表核心位置后撤，存量博弈替代增量驱动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无风险利率中枢下移：10Y 国债收益率 2.0%—2.5%，传统理财难以满足客户回报预期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居民资产再平衡：从存款 / 房产向金融资产迁移，未来 5 年潜在迁移规模数十万亿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公募基金、ETF、REITs、QDII 等工具持续丰富，FOF 是最适合承接的“一站式”载体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对银行渠道而言：财富管理转型的核心是“配置型解决方案”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大类资产长期画像（2010–2025）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单一资产的“可行域”受限，需要全球化与另类化扩边界</a:t>
            </a:r>
          </a:p>
        </p:txBody>
      </p:sp>
      <p:pic>
        <p:nvPicPr>
          <p:cNvPr id="9" name="Picture 8" descr="chart_asset_long_t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480000" cy="360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海外权益（标普 / 纳指）长期回报显著高于沪深300，且波动并未明显更高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黄金的“收益—波动”性价比并不差，且与股债的相关性都很低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债券类资产波动低但回报有限，单靠债券难以匹配理财客户的目标回报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若只用国内股债，组合的有效前沿明显落后于全球多元配置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结论：扩边界的两个方向 = 全球化 + 另类化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数据来源：基于公开市场指数口径估算，仅供示意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第一章  宏观新常态下的配置困局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单一资产 / 单一基金的困境 → FOF 与多元配置的必然性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回答“靠天吃饭”与“靠人吃饭”两个问题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单一资产 → “靠天吃饭”：宏观情景一变，组合即遭重创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单一基金 → “靠人吃饭”：α 集中暴露于单一管理人，风格漂移、规模冲击难以规避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多元资产配置：在“天”的维度上分散风险来源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FOF 双层结构：在“人”的维度上分散管理人 α 风险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全球 FOF 规模超 3 万亿美元，国内仅 1500 亿元，渗透率仅为美国市场的 1/30，潜在空间巨大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资产配置理论的演进脉络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70 年理论积淀，公募 FOF 是其零售化的产品载体</a:t>
            </a:r>
          </a:p>
        </p:txBody>
      </p:sp>
      <p:pic>
        <p:nvPicPr>
          <p:cNvPr id="9" name="Picture 8" descr="chart_theory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166" y="1692000"/>
            <a:ext cx="9049786" cy="30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4860000"/>
            <a:ext cx="11328119" cy="1530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均值方差 (1952)：现代资产配置的起点，但对预期收益估计极敏感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Black-Litterman (1990)：引入主观观点，解决“极端权重”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全天候 / 风险平价 (2005)：从“资金预算”转向“风险预算”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因子投资 (2010s)：把超额收益拆解为可复制的风险溢价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TDF / TRF (2010s+)：投资目标与客户生命周期对齐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SAA / TAA / 动态再平衡 三层框架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把投资过程“拆三层”，明确各自的目标与边界</a:t>
            </a:r>
          </a:p>
        </p:txBody>
      </p:sp>
      <p:pic>
        <p:nvPicPr>
          <p:cNvPr id="9" name="Picture 8" descr="chart_three_layer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120000" cy="35832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战略配置 SAA：长期均衡 +客户风险偏好，解释 70%—80% 长期回报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战术配置 TAA：基于 6—12 月宏观 / 估值 / 趋势，做 ±5%—±15% 偏离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动态再平衡：纪律化触发，长期贡献 0.3%—0.8% 年化 α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三层清晰分工 → 配置与择时可分别归因 / 分别考核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公募 FOF 合规优势：边界明确，三层框架可直接写入合同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中国公募FOF市场现状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8 年发展 · 1500 亿元规模 · 仍有 10 倍空间</a:t>
            </a:r>
          </a:p>
        </p:txBody>
      </p:sp>
      <p:pic>
        <p:nvPicPr>
          <p:cNvPr id="9" name="Picture 8" descr="chart_fof_marke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4363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运作时间：自 2017 年首批获批至今，已运行 8 年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市场规模：产品数 超 500 只，总规模约 1500 亿元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对标海外：成熟市场 FOF 规模 3 万亿美元 +，国内渗透率不足 1/30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产品分类：普通 / 养老目标日期 / 养老目标风险 / ETF-FOF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三大趋势：养老起量 · ETF-FOF 降费 · 全球配置型推出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数据来源：基于行业公开口径估算（2017—2025），仅供示意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第二章  资产配置理论的演进与公募FOF的位置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公募FOF 监管边界一页清单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做 FOF 前必须牢记的“红线”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7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5115924"/>
                <a:gridCol w="4202366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具体规定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对组合管理的影响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投资标的下限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≥80% 基金资产投资于经核准/注册的公募基金份额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决定了 FOF 必须以基金为底层资产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禁止直投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不得直接投资股票、债券、期货、期权、互换等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对冲与商品敞口须通过底层基金间接实现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单只基金上限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投资单只基金 ≤ FOF 资产净值的 20%（ETF联接除外）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保证组合分散度，避免过度依赖某只产品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同名产品限制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不得持有同一只基金的不同份额合计超过限额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选基时需考虑份额结构与认购规则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双重收费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需充分披露管理费与综合费率，投本管理人产品须豁免相应管理费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影响产品定价与净值表现，须前置披露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流动性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不得投资封闭式基金等流动性受限品种（特殊产品除外）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组合流动性必须与客户赎回机制匹配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资料来源：《公开募集证券投资基金运作指引第2号》及相关监管规则；表述经精简，以监管原文为准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可投大类资产画像总览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九类资产 = SAA 的“原子集合”</a:t>
            </a:r>
          </a:p>
        </p:txBody>
      </p:sp>
      <p:pic>
        <p:nvPicPr>
          <p:cNvPr id="9" name="Picture 8" descr="chart_nine_asset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666" y="1692000"/>
            <a:ext cx="6972787" cy="30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4860000"/>
            <a:ext cx="11328119" cy="1530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一个好的 FOF 组合 = 把风险来源分布在尽量多的“独立桶”里 ——下一页起逐一展开各类资产的研究与对比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数据来源：基于公开指数 2010—2025 口径估算，仅供示意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大类资产相关性矩阵：构建组合的“地基”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把风险来源分布在尽量多的“独立桶”里</a:t>
            </a:r>
          </a:p>
        </p:txBody>
      </p:sp>
      <p:pic>
        <p:nvPicPr>
          <p:cNvPr id="9" name="Picture 8" descr="chart_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4898592" cy="451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境内权益之间相关性 0.9+：多放几只 A 股基金并不能真正分散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A 股 vs 海外股票 相关性 0.3 左右 → 跨境配置是最有效的分散源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黄金、REITs、利率债 与 A 股 相关性 ≤ 0.1（甚至负相关）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原油与权益相关性 0.3—0.4，再通胀场景下提供尾部对冲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结论：好组合 ≠ 多只基金，而是“多个独立的风险桶”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数据来源：基于公开指数月度收益估算，仅供示意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宏观情景四象限：资产轮动地图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美林时钟的升级版，叠加全球流动性与汇率视角</a:t>
            </a:r>
          </a:p>
        </p:txBody>
      </p:sp>
      <p:pic>
        <p:nvPicPr>
          <p:cNvPr id="9" name="Picture 8" descr="chart_macro_quadr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120000" cy="38438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复苏（增长↑通胀↓）：成长股 / 信用债 / REITs / 纳指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过热（增长↑通胀↑）：工业商品 / 原油 / 新兴市场股 / 价值股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滞胀（增长↓通胀↑）：黄金 / 短债 / 防御股 / 现金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衰退（增长↓通胀↓）：长久期利率债 / 美元资产 / 高等级信用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TAA 应用：在 SAA 中枢基础上做 ±10% 偏离，对应不同象限的资产轮动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说明：象限内资产推荐为方向性示意，实操中需结合估值与拥挤度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境内权益拆解：市值 × 风格 二维矩阵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境内权益不是单一资产，而是一个可主动管理的“矩阵”</a:t>
            </a:r>
          </a:p>
        </p:txBody>
      </p:sp>
      <p:pic>
        <p:nvPicPr>
          <p:cNvPr id="9" name="Picture 8" descr="chart_equity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480000" cy="32697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市值维度：大盘 / 中盘 / 小盘 决定 β 与流动性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风格维度：价值 / 红利 / 质量 / 成长 决定 α 与波动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实战做法：宽基 + 风格 + 主题 三层组合，并通过风格轮动信号做动态再平衡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工具选择：宽基用 ETF 控成本，风格 / 主题结合主动基金获取增厚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港股与中概：被低估的差异化 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AH 折价 30%+ · 高股息 + 恒生科技 双引擎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恒生科技：新经济与互联网平台的核心代理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恒生高股息：低估值 + 高股息率（多年 6%+），适合稳健型组合的“类债”仓位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AH 溢价：长期处于 130—150 区间，提供 A/H 套利与配置切换空间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与 A 股相关性 ~0.6：相关但不重合，提供边际分散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工具：港股通主动基金、恒生科技 ETF、恒生高股息 ETF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海外权益：公募FOF 通过 QDII 实现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把全球权益纳入战略配置，是公募FOF 的差异化新阵地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核心 β：标普500 / 纳指100 —— 海外权益敞口的 50%+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成熟市场补充：欧洲STOXX 50 / 日经225 / TOPIX —— 配置 10%—20%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新兴市场 α 增厚：印度 Nifty / 越南 VN30 —— 占比 10%—20%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QDII 额度紧约束：建议同类备 2—3 只替代品，并跟踪基金申购暂停 / 限购公告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汇率维度：美元升值期 QDII 享汇兑收益，贬值期需评估是否对冲（公募 FOF 主要靠不同币种 QDII 间接调节）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固定收益：四个工具桶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稳定 carry · 久期防御 · 信用 alpha · option 切换</a:t>
            </a:r>
          </a:p>
        </p:txBody>
      </p:sp>
      <p:pic>
        <p:nvPicPr>
          <p:cNvPr id="9" name="Picture 8" descr="chart_bond_allo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5736164" cy="451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利率债（国债 / 政金债）：组合减震器，与权益负相关或低相关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高等级信用债：稳定 carry，控制单券集中度与行业暴露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可转债：股 / 债切换的“option”，权益估值底部具备非对称性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中资美元债（QDII）：美元 carry +中资信用利差 + 汇率敞口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→ 右图：稳健型 FOF 债券底仓建议配比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黄金与商品：公募FOF 唯一的“类商品”通道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在公募合规边界内，把商品敞口纳入组合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黄金 ETF：境内多只规模超百亿，提供避险 + 抗通胀 + 美元对冲三重价值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豆粕 ETF：农产品代理，对冲食品 / CPI 上行风险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有色金属 ETF：铜 / 铝周期代理，再通胀场景受益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能源化工 ETF：油气链条代理，对冲地缘冲突与能源价格上行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实操要点：警惕升贴水与展期损耗，建议黄金 5%—10%、商品 ETF 0%—5%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19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公募REITs：第三类资产的崛起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2021 年起 · 规模约 1500 亿 · 分红率 4%—8%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底层资产：产业园 / 仓储物流 / 保障房 / 高速公路 / 能源等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现金流稳定，与股债相关性较低，对稳健型 FOF 是天然 α 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估值敏感度：受贴现率（10Y 国债）变动影响较大，需关注利率周期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流动性：单只 REITs 流动性有限，建议组合内 3%—8% 配比，分散于不同类型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未来扩募 + 二级市场流动性改善 → 配置空间持续打开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第三章【主线一】全球多元资产研究与对比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公募FOF 全球配置工具箱总表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九类资产 → 可用的代表性公募基金类型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8" cy="341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5298636"/>
                <a:gridCol w="4019655"/>
              </a:tblGrid>
              <a:tr h="310254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资产类别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公募 FOF 可用工具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典型用途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境内权益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宽基 ETF / 风格 ETF / 行业主题 ETF / 主动权益基金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组合长期 β + 风格 / 行业 α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港股 / 中概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港股通主动基金 / 恒生科技 ETF / 恒生高股息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差异化 β + 高股息底仓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海外权益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QDII 主动基金 / 跨境 ETF（标普 / 纳指 / 欧日印越）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独立 β + 跨境分散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利率债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中长期纯债基金 / 国债 ETF / 政金债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组合“减震器”、对冲权益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信用债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信用债基金 / 中短债基金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稳定 carry + 收益增厚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可转债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可转债基金 / 转债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股债切换的“option”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海外债券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中资美元债 QDII / 全球债 QDII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美元 carry + 汇率对冲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黄金 / 商品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黄金 ETF / 豆粕 ETF / 有色 / 能化 ETF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避险、抗通胀、尾部对冲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10254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公募 REITs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公募 REITs 二级市场份额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第三类现金流，低相关 α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1026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现金 / 货基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货币基金 / 同业存单指数基金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流动性管理 + 战术弹药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说明：本表为映射关系示意，非任何产品推荐；实操中需结合管理人内部白名单与风控准入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从“资金预算”到“风险预算”：范式转变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同一个 60 / 40 ：左为资金权重，右为真实风险贡献</a:t>
            </a:r>
          </a:p>
        </p:txBody>
      </p:sp>
      <p:pic>
        <p:nvPicPr>
          <p:cNvPr id="9" name="Picture 8" descr="chart_risk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5110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60/40 名义“股 6 债 4”，实际股票贡献组合波动 90%+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风险预算：按风险贡献分配，股债 50/50 风险贡献对应资金权重约 25/75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意义：避免“假分散”——名义多资产，实质权益单一暴露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落地：以波动率 / VaR / 边际贡献为度量，进入组合优化器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公募 FOF 合规优势：风险预算可写入合同与日常合规监控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风险平价与全天候：核心方法对比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ERC / MDP / MV 的适用场景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桥水全天候：股 / 债 / 商品 / 黄金按风险贡献等权，再加杠杆达到目标波动率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ERC（等风险贡献）：稳健、可解释，公募 FOF 实务主流方案（低波约束下）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MDP（最大分散化）：追求多样性比率最大，适合资产数量较多的组合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MV（最小方差）：追求绝对波动最低，适合极致稳健型产品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FOF 不能加杠杆 → 实践中常用“低波约束下的 ERC”作为核心配置算法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风险预算三层下沉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大类资产层 → 风格因子层 → 子基金层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第一层：大类资产间的风险预算（股 / 债 / 商品 / REITs / 现金）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第二层：风格因子之间的风险预算（价值 / 成长 / 红利 / 低波 / 质量）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第三层：具体子基金之间的风险预算（含规模、换手、容量、稳定性等约束）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事前预算 + 事后归因 形成闭环 →回撤发生时可精确定位贡献来源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三层下沉的好处：从“黑盒组合”到“透明组合”，可向客户与渠道清晰解释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案例：用公募工具构造“类全天候”组合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完全在公募 FOF 框架内可落地的实战样例</a:t>
            </a:r>
          </a:p>
        </p:txBody>
      </p:sp>
      <p:pic>
        <p:nvPicPr>
          <p:cNvPr id="9" name="Picture 8" descr="chart_all_weather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3727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样例权重：黄金 ETF 20% · 国债 ETF 30% · 红利低波 ETF 20% · QDII 纳指 15% · 消费 / 医药 10% · 信用债 5%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回测示意（10 年）：年化 ~7.2% · 波动 ~6.5% · 最大回撤 ~-10%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对比 60/40：年化相近、波动 ~11% / 回撤 ~-22%，明显占优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对比沪深300：年化相近、波动仅为其 1/3、回撤为其 1/5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意义：公募 FOF 完全有能力做出“类全天候”体验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回测口径为示意性估算，未考虑费用与冲击成本，正式产品需用真实净值数据回测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事前风控：把“边界”写进合同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参数化的风控约束 = 组合的“骨架”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波动率目标：例如年化 ≤ 10%（稳健型）/ ≤ 14%（平衡型）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最大回撤目标：例如 ≤ -15%（稳健型）/ ≤ -25%（平衡型）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CVaR / 尾部约束：5% 尾部预期损失 ≤ -2%（按月）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跟踪误差约束：相对业绩比较基准 TE ≤ 4%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集中度限制：单只基金 ≤ 10% · 单一管理人 ≤ 20% · 单一策略 ≤ 30%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流动性约束：T+1 / T+2 可赎部分 ≥ 30%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事中风控：让“活的风险”被持续看见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周 / 月度体检表 —— 早发现、早处置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相关性监控：压力情景下相关性会“齐涨齐跌”，需要提前感知与减仓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风格漂移识别：买价值跑成长 → 立即评估替换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规模 / 换手 / 流动性预警：规模骤增 → 策略容量稀释；换手骤降 → 经理风险偏好变化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申购暂停 / 限购预警：QDII 尤其需要监控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考核与挂钩：把事中风控指标纳入投资经理 KPI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事后压力测试：四个情景下的“消防演习”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用当前持仓拟合历史极端环境的损益</a:t>
            </a:r>
          </a:p>
        </p:txBody>
      </p:sp>
      <p:pic>
        <p:nvPicPr>
          <p:cNvPr id="9" name="Picture 8" descr="chart_stres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2454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情景选择：2008 金融危机 / 2015 A 股股灾 / 2020 疫情冲击 / 2022 股债双杀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结果（示意）：类全天候组合四情景最大回撤均控制在 -12% 以内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60/40 组合最差时 -22%；沪深300 在 2008 年 -58%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提示：压力测试不是“事后解释”，而是事前调整组合结构的依据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组合调整方向：增加避险 / 反相关资产 / 限制单一情景敞口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数据为示意性估算，正式压力测试需使用历史价格序列与因子模型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再平衡机制：低买高卖的物化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定期 · 阈值 · 波动率触发  三种机制直观对比</a:t>
            </a:r>
          </a:p>
        </p:txBody>
      </p:sp>
      <p:pic>
        <p:nvPicPr>
          <p:cNvPr id="9" name="Picture 8" descr="chart_rebalanc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6983" y="1692000"/>
            <a:ext cx="8978153" cy="306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4860000"/>
            <a:ext cx="11328119" cy="1530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定期：纪律性强但可能错过结构性机会 · 阈值：智能但交易频率不可控 · 波动率触发：敏感、适合稳波动产品</a:t>
            </a:r>
          </a:p>
          <a:p>
            <a:pPr algn="l">
              <a:lnSpc>
                <a:spcPct val="13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实践组合：定期为主  +  阈值为辅  +  波动率为应急；长期 α 经验值 0.3%—0.8% / 年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29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收益拆解（一）：Brinson 三层归因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资产配置贡献 + 子基金选择贡献 + 交互项</a:t>
            </a:r>
          </a:p>
        </p:txBody>
      </p:sp>
      <p:pic>
        <p:nvPicPr>
          <p:cNvPr id="9" name="Picture 8" descr="chart_at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3727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资产配置贡献：是否把权重放在了表现好的大类上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子基金选择贡献：是否在每个大类内选到了好基金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交互项：配置与选基的协同效应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FOF 适配版：进一步拆为“大类 → 子板块 → 子基金”三层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客户价值：让客户清楚知道自己付的管理费换回了什么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示例数字为方法论展示用，非具体产品业绩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第四章【主线二】组合管理：风险预算 / 风险控制 / 收益拆解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收益拆解（二）：风险归因 + 多因子归因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把“赚了多少”与“承担了多少风险”一并讲清楚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8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962"/>
                <a:gridCol w="4933213"/>
                <a:gridCol w="3836943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归因维度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常用度量 / 工具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回答的问题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收益归因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Brinson 三层归因（FOF 适配版）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组合超额收益由哪一层贡献？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风险归因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边际 VaR / 边际波动贡献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每只基金 / 每类资产对总风险的贡献度？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股票因子归因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Barra：市值 / 价值 / 动量 / 成长 / 质量 / 波动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权益部分的风格敞口与超额来源？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债券因子归因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久期 / 信用利差 / 曲线斜率 / 凸性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债券部分的久期与信用敞口？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跨资产因子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Beta / Carry / Momentum / Value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组合究竟在赚哪一类风险溢价？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子基金穿透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持仓穿透 + 净值穿透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实际风格与基金合同 / 名称是否一致？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完整归因报告建议包含“收益贡献”与“风险贡献”两列，并可下钻到单只子基金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1：从“组合基金”到“配置工具”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让 FOF 成为客户的“唯一持仓”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形态升级：FOF 不再是某类资产的简单打包，而是全天候、可适配多场景的配置解决方案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对内要求：SAA 必须经过严格的全周期回测，TAA 必须有清晰的偏离边界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子基金覆盖：必须横跨所有可投资产类别，避免“缺角”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渠道价值：极大降低客户的选择成本，是银行渠道粘性的关键产品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商业意义：复购率与留存显著高于单一基金，是 AUM 长期增长的“锚”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32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2：用公募工具构造类全天候 / 风险平价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公募 FOF 相对单一基金 / 传统 60/40 的差异化卖点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公募 ETF + LOF + QDII 已足以拼出“类全天候”体验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差异点：监管合规、客户可理解、成本可控、信息披露透明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局限：不能加杠杆 → 绝对收益空间小于真正的全天候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优势：风险调整后收益（Sharpe / Calmar）完全可媲美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落地：建议产品名清晰传达“多元资产 / 风险平价”定位，便于客户认知与渠道营销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33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3：全球化升级 —— QDII + 跨境 ETF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海外配置从 5%—10% 提升至 15%—25%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核心抓手：QDII 主动基金 + 跨境 ETF （标普 / 纳指 / 欧 / 日 / 印 / 越）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配置目标：不是“追海外热点”，而是在组合中获得“独立 β”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实操难点：QDII 额度紧约束 → 提前储备 2—3 只替代品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费用维度：跨境 ETF 综合费率更低，适合作为长期底仓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客户教育：净值波动期需要持续输出宏观与汇率视角的解读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34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4：另类敞口 —— 公募 REITs + 商品 ETF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把另类纳入组合，补全公募 FOF 的资产维度</a:t>
            </a:r>
          </a:p>
        </p:txBody>
      </p:sp>
      <p:pic>
        <p:nvPicPr>
          <p:cNvPr id="9" name="Picture 8" descr="chart_alternative_al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496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现状：传统公募 FOF 的另类敞口几乎为零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目标：合计配比 6%—15%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构成：公募 REITs · 黄金 ETF · 商品 ETF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效果：显著降低尾部风险，经验上 Sharpe 提升 0.1—0.3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差异化：在“红海产品”中形成清晰区分度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35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5：风险预算驱动的子基金筛选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把风险预算前置到“选基”环节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传统模式：偏定性，容易陷入“明星基金经理”陷阱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新流程：先定每只基金的目标风险贡献（如 3%），倒推目标波动率与权重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定量筛选：风格穿透（持仓 + 净值双穿透）、稳定性、容量评估、最大回撤匹配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定性补充：基金经理画像（任期、换手、决策风格、组织环境）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动态白名单：每季度刷新，配套准入流程与“降级”机制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第五章  公募FOF 投资新思路（6 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36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思路 6：养老 FOF 与目标日期下滑曲线的本土化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第三支柱 Y 份额 —— 未来 5—10 年最确定的增量</a:t>
            </a:r>
          </a:p>
        </p:txBody>
      </p:sp>
      <p:pic>
        <p:nvPicPr>
          <p:cNvPr id="9" name="Picture 8" descr="chart_glide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2000" y="1692000"/>
            <a:ext cx="6300000" cy="33727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1692000"/>
            <a:ext cx="4500000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下滑曲线：客户距退休年限缩短 →权益仓位从 80% 逐步降至 20%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本土化 1：下滑曲线斜率更陡（国内权益波动更大）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本土化 2：退休后阶段以高股息 + REITs 为核心仓位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本土化 3：海外资产作分散源，降低单一市场风险</a:t>
            </a:r>
          </a:p>
          <a:p>
            <a:pPr algn="l">
              <a:lnSpc>
                <a:spcPct val="145000"/>
              </a:lnSpc>
            </a:pPr>
            <a:r>
              <a:rPr sz="14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400">
                <a:solidFill>
                  <a:srgbClr val="F2F4F7"/>
                </a:solidFill>
                <a:latin typeface="微软雅黑"/>
              </a:rPr>
              <a:t>渠道落地：与银行养老金账户深度结合，嵌入定投与“一键配置”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第六章  公募FOF 在银行场景的落地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37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银行代销 / 自营 FOF 的选品框架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把“尽职调查”做成标准化评分卡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8" cy="200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5298636"/>
                <a:gridCol w="4019655"/>
              </a:tblGrid>
              <a:tr h="334800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关注要点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评分参考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1. 双重收费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总管理费 + 综合费率上限是否透明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综合费率越低、披露越细越优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2. 规模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10—100 亿区间最佳，避免过小（运作不稳）或过大（容量受限）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中性规模 + 增长稳定为佳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3. 风格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稳健 / 平衡 / 进取分层，与客户分层精准匹配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标签清晰、风格穿透一致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4. 回撤控制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历史最大回撤与产品定位是否匹配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稳健型 ≤ -15%，平衡型 ≤ -20%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3480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5. 管理人能力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SAA 框架 / 子基金研究 /归因体系是否完整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三位一体齐全为优秀，单点缺失需关注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建议把以上五维度做成 100 分制评分卡，每季度刷新代销 / 自营白名单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第六章  公募FOF 在银行场景的落地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38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公募FOF  vs  理财FOF：边界与协同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两类 FOF 不是替代关系，而是阶梯式产品矩阵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7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7115"/>
                <a:gridCol w="4567789"/>
                <a:gridCol w="4933213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公募 FOF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理财 FOF / MOM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监管框架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证监会 · 公募基金运作指引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金融监管总局 · 理财公司监管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投资范围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≥80% 投公募基金，不可直投股票 / 债券 / 衍生品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可投公募 / 私募 / 衍生品 / 收益凭证 / 信托等，工具更丰富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风险等级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R2—R3 为主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R3—R4 为主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客户对象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广义零售 / 大众富裕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私行 / 高净值客户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信息披露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标准化、高频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相对灵活、个性化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产品矩阵建议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覆盖养老 / 稳健 / 平衡 / 进取四档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覆盖含权策略 / 量化对冲 / 多策略 / 跨境组合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阶梯式产品体系：公募 FOF 做大众富裕的“底盘”，理财 FOF / MOM 做私行的“高级形态”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第六章  公募FOF 在银行场景的落地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39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养老金融与第三支柱：银行的主场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个人养老金 Y 份额公募FOF —— 渗透率仍不足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政策：个人养老金账户 12000 元 / 年税优额度，Y 份额已超 200 只、规模约 800 亿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渠道地位：银行作为账户主开户方，是养老 FOF 推广的核心阵地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产品端抓手：重点配置目标日期 2030—2045 与稳健型目标风险 FOF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客户教育抓手：把“长钱长投 / 复利 / 下滑曲线”做成可视化材料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中长期愿景：第三支柱将成为公募 FOF 最大的单一资金池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第七章  案例与展望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40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国内代表性公募FOF 案例剖析（匿名化）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稳健型 FOF  +  目标日期养老 FOF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32000" y="1655999"/>
          <a:ext cx="11328117" cy="228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9827"/>
                <a:gridCol w="4567789"/>
                <a:gridCol w="4750501"/>
              </a:tblGrid>
              <a:tr h="327085"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维度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案例 A：稳健型 FOF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  <a:tc>
                  <a:txBody>
                    <a:bodyPr wrap="square" lIns="54000" rIns="54000" tIns="28800" bIns="28800"/>
                    <a:lstStyle/>
                    <a:p>
                      <a:pPr algn="ctr"/>
                      <a:r>
                        <a:rPr sz="1300" b="1">
                          <a:solidFill>
                            <a:srgbClr val="0E1A2B"/>
                          </a:solidFill>
                          <a:latin typeface="微软雅黑"/>
                        </a:rPr>
                        <a:t>案例 B：目标日期 2040 养老 FOF</a:t>
                      </a:r>
                    </a:p>
                  </a:txBody>
                  <a:tcPr>
                    <a:solidFill>
                      <a:srgbClr val="E0B574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规模 / 运作期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80 亿元 / 运作 6 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25 亿元 / 运作 4 年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大类配置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股 30% · 债 55% · 商品 / REITs 15%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权益 70%（A 股 40% · 港股 10% · QDII 20%）· 债 25% · 黄金 5%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年化收益（示意）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6.8%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8.5%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年化波动 / 最大回撤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波动 ~6.2% · 回撤 ~-7%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波动 ~13% · 回撤 ~-18%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  <a:tr h="327085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子基金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30 只 · 覆盖 8 类资产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约 25 只 · 含 QDII / REITs / 黄金 ETF</a:t>
                      </a:r>
                    </a:p>
                  </a:txBody>
                  <a:tcPr>
                    <a:solidFill>
                      <a:srgbClr val="16273D"/>
                    </a:solidFill>
                  </a:tcPr>
                </a:tc>
              </a:tr>
              <a:tr h="327090"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 b="1">
                          <a:solidFill>
                            <a:srgbClr val="E0B574"/>
                          </a:solidFill>
                          <a:latin typeface="微软雅黑"/>
                        </a:rPr>
                        <a:t>管理特征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每季度风险预算再校准 + 季报披露完整归因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  <a:tc>
                  <a:txBody>
                    <a:bodyPr wrap="square" lIns="64800" rIns="54000" tIns="21600" bIns="21600"/>
                    <a:lstStyle/>
                    <a:p>
                      <a:pPr algn="l"/>
                      <a:r>
                        <a:rPr sz="1150">
                          <a:solidFill>
                            <a:srgbClr val="F2F4F7"/>
                          </a:solidFill>
                          <a:latin typeface="微软雅黑"/>
                        </a:rPr>
                        <a:t>下滑曲线每年降权益 3% · 设“波动率触发”降仓机制</a:t>
                      </a:r>
                    </a:p>
                  </a:txBody>
                  <a:tcPr>
                    <a:solidFill>
                      <a:srgbClr val="1B2F4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32000" y="6282000"/>
            <a:ext cx="11160000" cy="21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数据为示意性估算，仅作方法论展示，不构成任何产品推荐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198000"/>
            <a:ext cx="7200000" cy="251999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B6C4D6"/>
                </a:solidFill>
                <a:latin typeface="微软雅黑"/>
              </a:rPr>
              <a:t>第七章  案例与展望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450000"/>
            <a:ext cx="900000" cy="36000"/>
          </a:xfrm>
          <a:prstGeom prst="rect">
            <a:avLst/>
          </a:prstGeom>
          <a:solidFill>
            <a:srgbClr val="E0B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2000" y="6516000"/>
            <a:ext cx="7920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B6C4D6"/>
                </a:solidFill>
                <a:latin typeface="微软雅黑"/>
              </a:rPr>
              <a:t>资产配置视角下的公募FOF投资新思路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41 / 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76000"/>
            <a:ext cx="11160000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微软雅黑"/>
              </a:rPr>
              <a:t>展望：AI 投研 · 数据基础设施 · 客户陪伴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1080000"/>
            <a:ext cx="11160000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E0B574"/>
                </a:solidFill>
                <a:latin typeface="微软雅黑"/>
              </a:rPr>
              <a:t>公募 FOF 下一个十年的三大变量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1692000"/>
            <a:ext cx="11328119" cy="4518000"/>
          </a:xfrm>
          <a:prstGeom prst="rect">
            <a:avLst/>
          </a:prstGeom>
          <a:noFill/>
        </p:spPr>
        <p:txBody>
          <a:bodyPr wrap="square" lIns="72000" rIns="72000" tIns="36000" bIns="3600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AI 投研：大模型加速基金研究 / 经理画像 / 会议纪要信号提取，单分析师覆盖基金数提升 3—5 倍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数据基础设施：底层持仓穿透库 + 统一风险因子模型 +自动化归因平台 = FOF 专业化的“地基”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客户陪伴：净值波动期的可信解读 比 净值上涨 更重要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组织能力：FOF 团队从“选基组”升级为“配置研究院”</a:t>
            </a:r>
          </a:p>
          <a:p>
            <a:pPr algn="l">
              <a:lnSpc>
                <a:spcPct val="155000"/>
              </a:lnSpc>
            </a:pPr>
            <a:r>
              <a:rPr sz="1700" b="1">
                <a:solidFill>
                  <a:srgbClr val="E0B574"/>
                </a:solidFill>
                <a:latin typeface="微软雅黑"/>
              </a:rPr>
              <a:t>■  </a:t>
            </a:r>
            <a:r>
              <a:rPr sz="1700">
                <a:solidFill>
                  <a:srgbClr val="F2F4F7"/>
                </a:solidFill>
                <a:latin typeface="微软雅黑"/>
              </a:rPr>
              <a:t>监管演进：合规边界持续清晰化，公募 FOF 的产品创新空间反而被打开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0E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16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880000"/>
            <a:ext cx="12192119" cy="108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8000" b="1">
                <a:solidFill>
                  <a:srgbClr val="E0B574"/>
                </a:solidFill>
                <a:latin typeface="微软雅黑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00000"/>
            <a:ext cx="12192119" cy="432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F2F4F7"/>
                </a:solidFill>
                <a:latin typeface="微软雅黑"/>
              </a:rPr>
              <a:t>全球多元资产  ×  风险预算驱动的组合管理 ——  公募FOF 的下一个十年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12000"/>
            <a:ext cx="1219211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400" b="0">
                <a:solidFill>
                  <a:srgbClr val="B6C4D6"/>
                </a:solidFill>
                <a:latin typeface="微软雅黑"/>
              </a:rPr>
              <a:t>感谢聆听  ·  欢迎指正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119" y="6516000"/>
            <a:ext cx="1188000" cy="198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1000" b="0">
                <a:solidFill>
                  <a:srgbClr val="B6C4D6"/>
                </a:solidFill>
                <a:latin typeface="微软雅黑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